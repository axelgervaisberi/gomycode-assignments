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0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4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3A50-08A9-867C-B718-36263235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80787-C576-1304-1F84-BEBD12D07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C1123-037F-415D-BD33-8E84884A2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62050-E640-91ED-253D-DDA9FB725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4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AECE-930F-7FE8-97E0-E1A2B0A3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1047750" y="952500"/>
            <a:ext cx="166782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INTRODUCTION TO DATABASES — CHECKPOINT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66" name="Text 1"/>
          <p:cNvSpPr/>
          <p:nvPr/>
        </p:nvSpPr>
        <p:spPr>
          <a:xfrm>
            <a:off x="1047750" y="4308475"/>
            <a:ext cx="43795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2FBF84"/>
                </a:solidFill>
                <a:latin typeface="Aptos" panose="020B0004020202020204" pitchFamily="34" charset="0"/>
                <a:ea typeface="Lora" pitchFamily="34" charset="-122"/>
                <a:cs typeface="Lora" pitchFamily="34" charset="-120"/>
              </a:rPr>
              <a:t>MongoDB</a:t>
            </a:r>
            <a:endParaRPr lang="en-US" sz="7200" dirty="0">
              <a:latin typeface="Aptos" panose="020B0004020202020204" pitchFamily="34" charset="0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412514" y="4362450"/>
            <a:ext cx="587871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kern="0" spc="156" dirty="0"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vs</a:t>
            </a:r>
            <a:endParaRPr lang="en-US" sz="3900" dirty="0">
              <a:latin typeface="Aptos" panose="020B0004020202020204" pitchFamily="34" charset="0"/>
            </a:endParaRPr>
          </a:p>
        </p:txBody>
      </p:sp>
      <p:sp>
        <p:nvSpPr>
          <p:cNvPr id="68" name="Text 3"/>
          <p:cNvSpPr/>
          <p:nvPr/>
        </p:nvSpPr>
        <p:spPr>
          <a:xfrm>
            <a:off x="6573441" y="4308475"/>
            <a:ext cx="186848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5A8FE0"/>
                </a:solidFill>
                <a:latin typeface="Aptos" panose="020B0004020202020204" pitchFamily="34" charset="0"/>
                <a:ea typeface="Lora" pitchFamily="34" charset="-122"/>
                <a:cs typeface="Lora" pitchFamily="34" charset="-120"/>
              </a:rPr>
              <a:t>SQL</a:t>
            </a:r>
            <a:endParaRPr lang="en-US" sz="7200" dirty="0">
              <a:latin typeface="Aptos" panose="020B0004020202020204" pitchFamily="34" charset="0"/>
            </a:endParaRPr>
          </a:p>
        </p:txBody>
      </p:sp>
      <p:sp>
        <p:nvSpPr>
          <p:cNvPr id="69" name="Text 4"/>
          <p:cNvSpPr/>
          <p:nvPr/>
        </p:nvSpPr>
        <p:spPr>
          <a:xfrm>
            <a:off x="1047750" y="5502275"/>
            <a:ext cx="16678275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A Comparative Overview of Two Database Paradigms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1047750" y="8953500"/>
            <a:ext cx="457200" cy="1905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71" name="Text 6"/>
          <p:cNvSpPr/>
          <p:nvPr/>
        </p:nvSpPr>
        <p:spPr>
          <a:xfrm>
            <a:off x="1047750" y="9201150"/>
            <a:ext cx="166782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NoSQL vs SQL</a:t>
            </a:r>
            <a:endParaRPr lang="en-US" sz="195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70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1995"/>
            <a:ext cx="57150" cy="533400"/>
          </a:xfrm>
          <a:prstGeom prst="roundRect">
            <a:avLst>
              <a:gd name="adj" fmla="val 50000"/>
            </a:avLst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952500"/>
            <a:ext cx="10526731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100" b="1" dirty="0">
                <a:solidFill>
                  <a:srgbClr val="1C1C1A"/>
                </a:solidFill>
                <a:latin typeface="Aptos" panose="020B0004020202020204" pitchFamily="34" charset="0"/>
                <a:ea typeface="Lora" pitchFamily="34" charset="-122"/>
                <a:cs typeface="Lora" pitchFamily="34" charset="-120"/>
              </a:rPr>
              <a:t>SQL: Structured Query Language</a:t>
            </a:r>
            <a:endParaRPr lang="en-US" sz="51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7750" y="2122091"/>
            <a:ext cx="7995761" cy="1988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SQL databases are </a:t>
            </a:r>
            <a:r>
              <a:rPr lang="en-US" sz="2400" i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relational systems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that organize data into tables of rows and columns. Relationships between tables are enforced through foreign keys and navigated using a standardized query language.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7750" y="4425156"/>
            <a:ext cx="95250" cy="95250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14450" y="4320381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Fixed Schema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structure is defined upfront; every record follows the same format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5480447"/>
            <a:ext cx="95250" cy="95250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4450" y="5375672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ACID Compliance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guarantees atomicity, consistency, isolation and durability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6535744"/>
            <a:ext cx="95250" cy="95250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14450" y="6430969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Vertical Scaling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performance improved by upgrading the server's hardware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47750" y="7591345"/>
            <a:ext cx="95250" cy="95250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4450" y="7486570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Joins &amp; Relations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data from multiple tables combined through foreign keys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477375" y="3794720"/>
            <a:ext cx="7762875" cy="4057650"/>
          </a:xfrm>
          <a:prstGeom prst="roundRect">
            <a:avLst>
              <a:gd name="adj" fmla="val 3286"/>
            </a:avLst>
          </a:prstGeom>
          <a:ln/>
          <a:effectLst>
            <a:outerShdw blurRad="3810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77375" y="3794720"/>
            <a:ext cx="7762875" cy="666750"/>
          </a:xfrm>
          <a:prstGeom prst="rect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44075" y="3966170"/>
            <a:ext cx="74623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FFFFFF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users — relational table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477375" y="4461470"/>
            <a:ext cx="7762875" cy="286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477375" y="4461470"/>
            <a:ext cx="888306" cy="574675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77375" y="5017095"/>
            <a:ext cx="888306" cy="19050"/>
          </a:xfrm>
          <a:prstGeom prst="rect">
            <a:avLst/>
          </a:prstGeom>
          <a:solidFill>
            <a:srgbClr val="C8D9F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86925" y="4594820"/>
            <a:ext cx="545406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B4F9E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ID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365681" y="4461470"/>
            <a:ext cx="2103636" cy="574675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365681" y="5017095"/>
            <a:ext cx="2103636" cy="19050"/>
          </a:xfrm>
          <a:prstGeom prst="rect">
            <a:avLst/>
          </a:prstGeom>
          <a:solidFill>
            <a:srgbClr val="C8D9F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75231" y="4594820"/>
            <a:ext cx="1760736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B4F9E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NAME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469317" y="4461470"/>
            <a:ext cx="2803624" cy="574675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2469317" y="5017095"/>
            <a:ext cx="2803624" cy="19050"/>
          </a:xfrm>
          <a:prstGeom prst="rect">
            <a:avLst/>
          </a:prstGeom>
          <a:solidFill>
            <a:srgbClr val="C8D9F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678867" y="4594820"/>
            <a:ext cx="2468633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B4F9E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EMAIL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5272941" y="4461470"/>
            <a:ext cx="1967309" cy="574675"/>
          </a:xfrm>
          <a:prstGeom prst="rect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5272941" y="5017095"/>
            <a:ext cx="1967309" cy="19050"/>
          </a:xfrm>
          <a:prstGeom prst="rect">
            <a:avLst/>
          </a:prstGeom>
          <a:solidFill>
            <a:srgbClr val="C8D9F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482491" y="4594820"/>
            <a:ext cx="1624409" cy="32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B4F9E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COUNTRY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477375" y="5607646"/>
            <a:ext cx="7762875" cy="9525"/>
          </a:xfrm>
          <a:prstGeom prst="rect">
            <a:avLst/>
          </a:prstGeom>
          <a:solidFill>
            <a:srgbClr val="EDEAE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86925" y="5169496"/>
            <a:ext cx="54540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575231" y="5169496"/>
            <a:ext cx="176073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Alice Martin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678867" y="5169496"/>
            <a:ext cx="246863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alice@mail.com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482491" y="5169496"/>
            <a:ext cx="162440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France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477375" y="6179146"/>
            <a:ext cx="7762875" cy="9525"/>
          </a:xfrm>
          <a:prstGeom prst="rect">
            <a:avLst/>
          </a:prstGeom>
          <a:solidFill>
            <a:srgbClr val="EDEAE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77375" y="5613996"/>
            <a:ext cx="888306" cy="5715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86925" y="5747346"/>
            <a:ext cx="5454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365681" y="5613996"/>
            <a:ext cx="2103636" cy="5715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75231" y="5747346"/>
            <a:ext cx="17607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Bob Chen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2469317" y="5613996"/>
            <a:ext cx="2803624" cy="5715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678867" y="5747346"/>
            <a:ext cx="2468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bob@mail.com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5272941" y="5613996"/>
            <a:ext cx="1967309" cy="571500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5482491" y="5747346"/>
            <a:ext cx="16244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Canada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477375" y="6750646"/>
            <a:ext cx="7762875" cy="9525"/>
          </a:xfrm>
          <a:prstGeom prst="rect">
            <a:avLst/>
          </a:prstGeom>
          <a:solidFill>
            <a:srgbClr val="EDEAE5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86925" y="6318846"/>
            <a:ext cx="5454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575231" y="6318846"/>
            <a:ext cx="17607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Sara López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2678867" y="6318846"/>
            <a:ext cx="2468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sara@mail.com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5482491" y="6318846"/>
            <a:ext cx="16244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Spain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477375" y="6756996"/>
            <a:ext cx="888306" cy="568325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86925" y="6890346"/>
            <a:ext cx="54540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365681" y="6756996"/>
            <a:ext cx="2103636" cy="568325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575231" y="6890346"/>
            <a:ext cx="176073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James Kim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2469317" y="6756996"/>
            <a:ext cx="2803624" cy="568325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2678867" y="6890346"/>
            <a:ext cx="2468633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james@mail.com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5272941" y="6756996"/>
            <a:ext cx="1967309" cy="568325"/>
          </a:xfrm>
          <a:prstGeom prst="rect">
            <a:avLst/>
          </a:prstGeom>
          <a:solidFill>
            <a:srgbClr val="FAFAF8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5482491" y="6890346"/>
            <a:ext cx="162440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Korea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477375" y="7325320"/>
            <a:ext cx="7762875" cy="527050"/>
          </a:xfrm>
          <a:prstGeom prst="rect">
            <a:avLst/>
          </a:prstGeom>
          <a:solidFill>
            <a:srgbClr val="F3F1E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475232" y="7439620"/>
            <a:ext cx="77671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Data organized in rows and columns</a:t>
            </a:r>
            <a:endParaRPr lang="en-US" sz="1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1995"/>
            <a:ext cx="57150" cy="533400"/>
          </a:xfrm>
          <a:prstGeom prst="roundRect">
            <a:avLst>
              <a:gd name="adj" fmla="val 50000"/>
            </a:avLst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952500"/>
            <a:ext cx="9820254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100" b="1" dirty="0">
                <a:solidFill>
                  <a:srgbClr val="1C1C1A"/>
                </a:solidFill>
                <a:latin typeface="Aptos" panose="020B0004020202020204" pitchFamily="34" charset="0"/>
                <a:ea typeface="Lora" pitchFamily="34" charset="-122"/>
                <a:cs typeface="Lora" pitchFamily="34" charset="-120"/>
              </a:rPr>
              <a:t>MongoDB: Document Database</a:t>
            </a:r>
            <a:endParaRPr lang="en-US" sz="51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7750" y="2122091"/>
            <a:ext cx="7995761" cy="1988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MongoDB is a </a:t>
            </a:r>
            <a:r>
              <a:rPr lang="en-US" sz="2400" i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NoSQL document store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that saves data as flexible, JSON-like documents. There is no fixed schema — each document in a collection can have its own unique structure.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47750" y="4425156"/>
            <a:ext cx="95250" cy="95250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14450" y="4320381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Flexible Schema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documents can vary in structure; easy to evolve as needs change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5480447"/>
            <a:ext cx="95250" cy="95250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4450" y="5375672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Embedded Documents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related data nested inside one document, reducing joins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6535744"/>
            <a:ext cx="95250" cy="95250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14450" y="6430969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Horizontal Scaling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built-in sharding distributes data across many servers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47750" y="7591345"/>
            <a:ext cx="95250" cy="95250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4450" y="7486570"/>
            <a:ext cx="772106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High Write Performance </a:t>
            </a:r>
            <a:r>
              <a:rPr lang="en-US" sz="24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— optimized for fast reads and writes at high data volumes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477375" y="3191470"/>
            <a:ext cx="7762875" cy="5264150"/>
          </a:xfrm>
          <a:prstGeom prst="roundRect">
            <a:avLst>
              <a:gd name="adj" fmla="val 2533"/>
            </a:avLst>
          </a:prstGeom>
          <a:ln/>
          <a:effectLst>
            <a:outerShdw blurRad="3810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77375" y="3191470"/>
            <a:ext cx="7762875" cy="666750"/>
          </a:xfrm>
          <a:prstGeom prst="rect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44075" y="3362920"/>
            <a:ext cx="74623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FFFFFF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user — document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477375" y="3858220"/>
            <a:ext cx="7762875" cy="40703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86925" y="4067770"/>
            <a:ext cx="7343775" cy="520700"/>
          </a:xfrm>
          <a:prstGeom prst="roundRect">
            <a:avLst>
              <a:gd name="adj" fmla="val 14634"/>
            </a:avLst>
          </a:prstGeom>
          <a:solidFill>
            <a:srgbClr val="F8F7F4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39325" y="4185245"/>
            <a:ext cx="1028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id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25175" y="4172545"/>
            <a:ext cx="27344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55772" y="4185245"/>
            <a:ext cx="125372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#64a3f9b2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86925" y="4683721"/>
            <a:ext cx="7343775" cy="520700"/>
          </a:xfrm>
          <a:prstGeom prst="roundRect">
            <a:avLst>
              <a:gd name="adj" fmla="val 14634"/>
            </a:avLst>
          </a:prstGeom>
          <a:solidFill>
            <a:srgbClr val="F8F7F4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39325" y="4801195"/>
            <a:ext cx="1028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name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25175" y="4788496"/>
            <a:ext cx="27344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55772" y="4801195"/>
            <a:ext cx="129490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Alice Martin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686925" y="5299671"/>
            <a:ext cx="7343775" cy="520700"/>
          </a:xfrm>
          <a:prstGeom prst="roundRect">
            <a:avLst>
              <a:gd name="adj" fmla="val 14634"/>
            </a:avLst>
          </a:prstGeom>
          <a:solidFill>
            <a:srgbClr val="F8F7F4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39325" y="5417146"/>
            <a:ext cx="1028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email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925175" y="5404446"/>
            <a:ext cx="27344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55772" y="5417146"/>
            <a:ext cx="170477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alice@mail.com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15525" y="5915620"/>
            <a:ext cx="7115175" cy="546100"/>
          </a:xfrm>
          <a:prstGeom prst="roundRect">
            <a:avLst>
              <a:gd name="adj" fmla="val 13953"/>
            </a:avLst>
          </a:prstGeom>
          <a:solidFill>
            <a:srgbClr val="E5F3E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67925" y="6039445"/>
            <a:ext cx="1028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city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153775" y="6026746"/>
            <a:ext cx="27344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484372" y="6020395"/>
            <a:ext cx="1965722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Paris </a:t>
            </a:r>
            <a:r>
              <a:rPr lang="en-US" sz="1800" b="1" dirty="0">
                <a:solidFill>
                  <a:srgbClr val="00694B"/>
                </a:solidFill>
                <a:highlight>
                  <a:srgbClr val="E5F3EE"/>
                </a:highlight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embedded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915525" y="6556971"/>
            <a:ext cx="7115175" cy="520700"/>
          </a:xfrm>
          <a:prstGeom prst="roundRect">
            <a:avLst>
              <a:gd name="adj" fmla="val 14634"/>
            </a:avLst>
          </a:prstGeom>
          <a:solidFill>
            <a:srgbClr val="E5F3E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67925" y="6674446"/>
            <a:ext cx="1028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country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153775" y="6661746"/>
            <a:ext cx="27344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484372" y="6674446"/>
            <a:ext cx="77350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France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86925" y="7172920"/>
            <a:ext cx="7343775" cy="546100"/>
          </a:xfrm>
          <a:prstGeom prst="roundRect">
            <a:avLst>
              <a:gd name="adj" fmla="val 13953"/>
            </a:avLst>
          </a:prstGeom>
          <a:solidFill>
            <a:srgbClr val="F8F7F4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39325" y="7296745"/>
            <a:ext cx="10287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orders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925175" y="7284046"/>
            <a:ext cx="27344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255772" y="7277695"/>
            <a:ext cx="973733" cy="336550"/>
          </a:xfrm>
          <a:prstGeom prst="roundRect">
            <a:avLst>
              <a:gd name="adj" fmla="val 11321"/>
            </a:avLst>
          </a:prstGeom>
          <a:solidFill>
            <a:srgbClr val="E5F3E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351022" y="7296745"/>
            <a:ext cx="85943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694B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3 items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477375" y="7928571"/>
            <a:ext cx="7762875" cy="527050"/>
          </a:xfrm>
          <a:prstGeom prst="rect">
            <a:avLst/>
          </a:prstGeom>
          <a:solidFill>
            <a:srgbClr val="F3F1E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475232" y="8042871"/>
            <a:ext cx="77671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Data stored as flexible documents</a:t>
            </a:r>
            <a:endParaRPr lang="en-US" sz="1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1995"/>
            <a:ext cx="57150" cy="533400"/>
          </a:xfrm>
          <a:prstGeom prst="roundRect">
            <a:avLst>
              <a:gd name="adj" fmla="val 50000"/>
            </a:avLst>
          </a:prstGeom>
          <a:solidFill>
            <a:srgbClr val="181816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952500"/>
            <a:ext cx="8553339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100" b="1" dirty="0">
                <a:solidFill>
                  <a:srgbClr val="1C1C1A"/>
                </a:solidFill>
                <a:latin typeface="Aptos" panose="020B0004020202020204" pitchFamily="34" charset="0"/>
                <a:ea typeface="Lora" pitchFamily="34" charset="-122"/>
                <a:cs typeface="Lora" pitchFamily="34" charset="-120"/>
              </a:rPr>
              <a:t>Head-to-Head Comparison</a:t>
            </a:r>
            <a:endParaRPr lang="en-US" sz="51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47750" y="2122091"/>
            <a:ext cx="2481858" cy="711200"/>
          </a:xfrm>
          <a:prstGeom prst="rect">
            <a:avLst/>
          </a:prstGeom>
          <a:solidFill>
            <a:srgbClr val="181816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529608" y="2122091"/>
            <a:ext cx="6867525" cy="711200"/>
          </a:xfrm>
          <a:prstGeom prst="rect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15358" y="2293541"/>
            <a:ext cx="6502051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SQL</a:t>
            </a:r>
            <a:endParaRPr lang="en-US" sz="225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397133" y="2122091"/>
            <a:ext cx="6843117" cy="711200"/>
          </a:xfrm>
          <a:prstGeom prst="rect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82883" y="2293541"/>
            <a:ext cx="6476911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MongoDB</a:t>
            </a:r>
            <a:endParaRPr lang="en-US" sz="225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3519686"/>
            <a:ext cx="16192500" cy="9525"/>
          </a:xfrm>
          <a:prstGeom prst="rect">
            <a:avLst/>
          </a:prstGeom>
          <a:solidFill>
            <a:srgbClr val="E2DFD9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33500" y="3004741"/>
            <a:ext cx="1986558" cy="38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72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DATA MODEL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15358" y="3004741"/>
            <a:ext cx="6502051" cy="38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Tables with rows and columns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82883" y="3004741"/>
            <a:ext cx="6476911" cy="38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Collections of JSON-like documents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7750" y="4215606"/>
            <a:ext cx="16192500" cy="9525"/>
          </a:xfrm>
          <a:prstGeom prst="rect">
            <a:avLst/>
          </a:prstGeom>
          <a:solidFill>
            <a:srgbClr val="E2DFD9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7750" y="3526036"/>
            <a:ext cx="2481858" cy="695920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33500" y="3697486"/>
            <a:ext cx="1986558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72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SCHEMA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29608" y="3526036"/>
            <a:ext cx="6867525" cy="695920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15358" y="3697486"/>
            <a:ext cx="6502051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Fixed — defined before inserting data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397133" y="3526036"/>
            <a:ext cx="6843117" cy="695920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682883" y="3697486"/>
            <a:ext cx="6476911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Dynamic — each document can differ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47750" y="4911527"/>
            <a:ext cx="16192500" cy="9525"/>
          </a:xfrm>
          <a:prstGeom prst="rect">
            <a:avLst/>
          </a:prstGeom>
          <a:solidFill>
            <a:srgbClr val="E2DFD9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33500" y="4393406"/>
            <a:ext cx="1986558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72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SCALABILITY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15358" y="4393406"/>
            <a:ext cx="6502051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Vertical — upgrade the server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682883" y="4393406"/>
            <a:ext cx="6476911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Horizontal — add more servers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47750" y="5900738"/>
            <a:ext cx="16192500" cy="9525"/>
          </a:xfrm>
          <a:prstGeom prst="rect">
            <a:avLst/>
          </a:prstGeom>
          <a:solidFill>
            <a:srgbClr val="E2DFD9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47750" y="4917877"/>
            <a:ext cx="2481858" cy="989211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33500" y="5089327"/>
            <a:ext cx="1986558" cy="684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72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QUERY LANGUAGE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529608" y="4917877"/>
            <a:ext cx="6867525" cy="989211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15358" y="5089327"/>
            <a:ext cx="6502051" cy="684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SQL (Structured Query Language)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397133" y="4917877"/>
            <a:ext cx="6843117" cy="989211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682883" y="5089327"/>
            <a:ext cx="6476911" cy="684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MQL (MongoDB Query Language)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47750" y="6596658"/>
            <a:ext cx="16192500" cy="9525"/>
          </a:xfrm>
          <a:prstGeom prst="rect">
            <a:avLst/>
          </a:prstGeom>
          <a:solidFill>
            <a:srgbClr val="E2DFD9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33500" y="6078538"/>
            <a:ext cx="1986558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72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RELATIONSHIPS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15358" y="6078538"/>
            <a:ext cx="6502051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Joins using foreign keys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682883" y="6078538"/>
            <a:ext cx="6476911" cy="39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Embedded documents or references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47750" y="6603008"/>
            <a:ext cx="2481858" cy="692745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33500" y="6774458"/>
            <a:ext cx="1986558" cy="38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72" dirty="0">
                <a:solidFill>
                  <a:srgbClr val="6B6866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TRANSACTIONS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529608" y="6603008"/>
            <a:ext cx="6867525" cy="692745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815358" y="6774458"/>
            <a:ext cx="6502051" cy="38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Full ACID — built-in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397133" y="6603008"/>
            <a:ext cx="6843117" cy="692745"/>
          </a:xfrm>
          <a:prstGeom prst="rect">
            <a:avLst/>
          </a:prstGeom>
          <a:solidFill>
            <a:srgbClr val="F4F2EF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682883" y="6774458"/>
            <a:ext cx="6476911" cy="38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Multi-document ACID (since v4.0)</a:t>
            </a:r>
            <a:endParaRPr lang="en-US" sz="19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41995"/>
            <a:ext cx="57150" cy="533400"/>
          </a:xfrm>
          <a:prstGeom prst="roundRect">
            <a:avLst>
              <a:gd name="adj" fmla="val 50000"/>
            </a:avLst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952500"/>
            <a:ext cx="7632049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100" b="1" dirty="0">
                <a:solidFill>
                  <a:srgbClr val="1C1C1A"/>
                </a:solidFill>
                <a:latin typeface="Aptos" panose="020B0004020202020204" pitchFamily="34" charset="0"/>
                <a:ea typeface="Lora" pitchFamily="34" charset="-122"/>
                <a:cs typeface="Lora" pitchFamily="34" charset="-120"/>
              </a:rPr>
              <a:t>Choosing the Right Tool</a:t>
            </a:r>
            <a:endParaRPr lang="en-US" sz="51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47750" y="2122091"/>
            <a:ext cx="7810500" cy="654050"/>
          </a:xfrm>
          <a:prstGeom prst="roundRect">
            <a:avLst>
              <a:gd name="adj" fmla="val 11650"/>
            </a:avLst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76350" y="2274491"/>
            <a:ext cx="758761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Use SQL when…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47750" y="2966641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44600" y="3220641"/>
            <a:ext cx="85725" cy="85725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82725" y="3125391"/>
            <a:ext cx="66328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Highly structured data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82725" y="3534966"/>
            <a:ext cx="663288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Clear relationships and consistent fields across all records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4179491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44600" y="4433491"/>
            <a:ext cx="85725" cy="85725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82725" y="4338241"/>
            <a:ext cx="55102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Data integrity is critical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82725" y="4747816"/>
            <a:ext cx="551026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Financial transactions, banking, medical records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7750" y="5392363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44600" y="5646363"/>
            <a:ext cx="85725" cy="85725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82725" y="5551113"/>
            <a:ext cx="50758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Complex queries and reporting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82725" y="5960688"/>
            <a:ext cx="507583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Joining multiple related tables, aggregations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47750" y="6605696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44600" y="6859696"/>
            <a:ext cx="85725" cy="85725"/>
          </a:xfrm>
          <a:prstGeom prst="ellipse">
            <a:avLst/>
          </a:prstGeom>
          <a:solidFill>
            <a:srgbClr val="1B4F9E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82725" y="6764446"/>
            <a:ext cx="47261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Stable, mature applications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82725" y="7174021"/>
            <a:ext cx="47261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Well-understood and fixed domain model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429750" y="2122091"/>
            <a:ext cx="7810500" cy="654050"/>
          </a:xfrm>
          <a:prstGeom prst="roundRect">
            <a:avLst>
              <a:gd name="adj" fmla="val 11650"/>
            </a:avLst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58350" y="2274491"/>
            <a:ext cx="758761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Use MongoDB when…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429750" y="2966641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626600" y="3220641"/>
            <a:ext cx="85725" cy="85725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64726" y="3125391"/>
            <a:ext cx="607091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Variable data structure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64726" y="3534966"/>
            <a:ext cx="607091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User profiles, product catalogs, content management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429750" y="4179491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26600" y="4433491"/>
            <a:ext cx="85725" cy="85725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864726" y="4338241"/>
            <a:ext cx="53835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Rapid product iteration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64726" y="4747816"/>
            <a:ext cx="538354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Schema evolves freely as the application grows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429750" y="5392363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626600" y="5646363"/>
            <a:ext cx="85725" cy="85725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64726" y="5551113"/>
            <a:ext cx="52488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Scale and speed matter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864726" y="5960688"/>
            <a:ext cx="524885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High-traffic apps, IoT data, real-time analytics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429750" y="6605696"/>
            <a:ext cx="7810500" cy="10795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DFD9"/>
            </a:solidFill>
            <a:prstDash val="solid"/>
          </a:ln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26600" y="6859696"/>
            <a:ext cx="85725" cy="85725"/>
          </a:xfrm>
          <a:prstGeom prst="ellipse">
            <a:avLst/>
          </a:prstGeom>
          <a:solidFill>
            <a:srgbClr val="00694B"/>
          </a:solidFill>
          <a:ln/>
        </p:spPr>
        <p:txBody>
          <a:bodyPr/>
          <a:lstStyle/>
          <a:p>
            <a:endParaRPr lang="fr-CI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864726" y="6764446"/>
            <a:ext cx="647192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Hierarchical data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64726" y="7174021"/>
            <a:ext cx="647192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C1C1A"/>
                </a:solidFill>
                <a:latin typeface="Aptos" panose="020B0004020202020204" pitchFamily="34" charset="0"/>
                <a:ea typeface="IBM Plex Sans" pitchFamily="34" charset="-122"/>
                <a:cs typeface="IBM Plex Sans" pitchFamily="34" charset="-120"/>
              </a:rPr>
              <a:t>When data maps naturally to nested objects in your code</a:t>
            </a:r>
            <a:endParaRPr lang="en-US" sz="19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449</Words>
  <Application>Microsoft Office PowerPoint</Application>
  <PresentationFormat>Custom</PresentationFormat>
  <Paragraphs>105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Axel Gervais BERI</cp:lastModifiedBy>
  <cp:revision>5</cp:revision>
  <dcterms:created xsi:type="dcterms:W3CDTF">2026-06-11T08:52:13Z</dcterms:created>
  <dcterms:modified xsi:type="dcterms:W3CDTF">2026-06-11T08:54:40Z</dcterms:modified>
</cp:coreProperties>
</file>